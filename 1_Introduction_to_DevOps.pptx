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5" r:id="rId4"/>
  </p:sldMasterIdLst>
  <p:notesMasterIdLst>
    <p:notesMasterId r:id="rId17"/>
  </p:notesMasterIdLst>
  <p:handoutMasterIdLst>
    <p:handoutMasterId r:id="rId18"/>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to DevOps" id="{8C76ACD2-211B-4782-8AE7-8DB3E9278EA7}">
          <p14:sldIdLst>
            <p14:sldId id="2561"/>
          </p14:sldIdLst>
        </p14:section>
        <p14:section name="Introduction to DevOps" id="{0E78CA2C-D507-4134-A47A-FAD7C85D2AAC}">
          <p14:sldIdLst>
            <p14:sldId id="2562"/>
            <p14:sldId id="2563"/>
            <p14:sldId id="2564"/>
          </p14:sldIdLst>
        </p14:section>
        <p14:section name="DevOps vs Traditional Approach" id="{E7389327-D3A1-4673-AEBB-855F7E959391}">
          <p14:sldIdLst>
            <p14:sldId id="2565"/>
            <p14:sldId id="2566"/>
          </p14:sldIdLst>
        </p14:section>
        <p14:section name="DevOps Lifecycle and Tools" id="{D6738E2C-2A4C-4C26-B1E9-4245A9E80CF7}">
          <p14:sldIdLst>
            <p14:sldId id="2567"/>
            <p14:sldId id="2568"/>
            <p14:sldId id="2569"/>
          </p14:sldIdLst>
        </p14:section>
        <p14:section name="DevSecOps and Key Takeaways" id="{E1CFB3C5-5D29-4966-86E2-5164802F13E5}">
          <p14:sldIdLst>
            <p14:sldId id="2570"/>
            <p14:sldId id="2571"/>
            <p14:sldId id="25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D73650-048A-4786-AF56-FE425839D50D}" v="14" dt="2025-12-08T17:10:26.212"/>
  </p1510:revLst>
</p1510:revInfo>
</file>

<file path=ppt/tableStyles.xml><?xml version="1.0" encoding="utf-8"?>
<a:tblStyleLst xmlns:a="http://schemas.openxmlformats.org/drawingml/2006/main" def="{91EBBBCC-DAD2-459C-BE2E-F6DE35CF9A2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42" autoAdjust="0"/>
    <p:restoredTop sz="94810"/>
  </p:normalViewPr>
  <p:slideViewPr>
    <p:cSldViewPr snapToGrid="0">
      <p:cViewPr>
        <p:scale>
          <a:sx n="100" d="100"/>
          <a:sy n="100" d="100"/>
        </p:scale>
        <p:origin x="-845" y="-605"/>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12/8/2025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1432175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What is DevOps?, Benefits of DevOps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33826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DevOps is a cultural and technical movement that bridges the gap between software development and IT operations. It emphasizes collaboration, automation, and continuous improvement to deliver high-quality software faster and more reliably. The primary goal of DevOps is to shorten the development lifecycle while maintaining high standards of quality and security. By integrating development and operations teams, organizations can eliminate silos, improve communication, and streamline workflows. DevOps practices include continuous integration (CI), continuous delivery (CD), infrastructure as code (IaC), and automated testing. These practices enable teams to respond quickly to changes, reduce time-to-market, and enhance customer satisfaction. Unlike traditional approaches that rely on rigid phases and manual processes, DevOps promotes agility and adaptability, ensuring that software evolves in alignment with business needs and user feedback. This mindset is not limited to tools but extends to fostering a culture of shared responsibility and collaboration across all stakeholders.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205277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DevOps offers numerous benefits that transform the way organizations build and deliver software. First, it significantly improves speed by enabling faster releases through automation and streamlined workflows. This reduction in time-to-market is critical for businesses operating in competitive environments. Second, DevOps enhances efficiency by integrating processes and tools, reducing manual interventions, and minimizing errors. Third, it ensures reliability by promoting consistent deployments and robust infrastructure management, which reduces downtime and improves system stability. Additionally, DevOps fosters agility, allowing teams to respond proactively to changing requirements and market conditions. Continuous feedback loops and iterative improvements lead to higher quality products, as issues are detected and resolved early in the development cycle. Adaptability is another key advantage, as DevOps practices enable real-time responses to operational challenges. Overall, DevOps creates a culture of collaboration and accountability, resulting in improved customer satisfaction and business outcomes.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804120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Comparison of Approaches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140145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The traditional software development approach, often represented by the waterfall model, follows a linear sequence of phases: requirements, design, implementation, testing, deployment, and maintenance. This rigid structure makes it difficult to accommodate changes, leading to delays and increased costs. Feedback loops are limited, and customer involvement typically occurs late in the process, which can compromise product relevance and quality. In contrast, DevOps adopts an iterative and collaborative model that integrates development and operations throughout the software lifecycle. It emphasizes continuous integration and continuous delivery (CI/CD), enabling frequent and reliable releases. Automation plays a central role in DevOps, reducing manual tasks and improving consistency. Teamwork is another differentiator: while traditional methods often isolate teams by function, DevOps encourages cross-functional collaboration, breaking down silos and fostering shared responsibility. This approach not only accelerates delivery but also enhances adaptability, quality, and customer satisfaction.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759189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DevOps Lifecycle, Essential DevOps Tools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578288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The DevOps lifecycle is a continuous and iterative process designed to deliver software efficiently and reliably. It consists of seven key phases: Plan, Code, Build, Test, Deploy, Operate, and Monitor. Planning involves defining project goals, requirements, and timelines. Coding focuses on writing and managing source code using version control systems. Building automates the compilation and packaging of code into executable artifacts. Testing includes automated and manual validation to ensure functionality and quality. Deployment automates the release of software to production environments, while operation ensures system stability and performance. Monitoring provides real-time insights into application behavior, enabling proactive issue resolution and continuous improvement. These phases are interconnected, creating a feedback loop that drives agility and responsiveness. Automation and collaboration underpin the entire lifecycle, ensuring that changes are integrated seamlessly and delivered quickly without compromising quality.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444243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DevOps relies on a diverse set of tools to implement its practices effectively. For source code management (SCM), tools like Git and GitHub enable version control and collaborative coding. Build automation tools such as Maven and Gradle streamline the process of compiling and packaging applications. Continuous integration and delivery (CI/CD) pipelines are powered by tools like Jenkins, which automate building, testing, and deployment. Testing tools such as Selenium, JUnit, and TestNG ensure software quality through automated validation. Configuration management and deployment tools, including Ansible, Chef, Puppet, and Terraform, facilitate infrastructure automation and consistency across environments. Monitoring tools like Nagios, Grafana, and Prometheus provide visibility into system performance and health, enabling proactive issue detection. Containerization tools such as Docker and Kubernetes allow applications to run reliably across different environments by packaging them with their dependencies. Together, these tools create a robust ecosystem that supports the principles of speed, reliability, and scalability in DevOps.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666390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Introduction to DevSecOps, Key Takeaways
</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788440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DevSecOps extends the principles of DevOps by integrating security practices throughout the software development lifecycle. Instead of treating security as a separate phase, DevSecOps embeds it into every stage, from planning to deployment. This approach ensures that vulnerabilities are identified and addressed early, reducing risks and improving compliance. Key practices include automated security testing, vulnerability scanning, and policy enforcement within CI/CD pipelines. DevSecOps promotes a culture of shared responsibility, where development, operations, and security teams collaborate to deliver secure software quickly and efficiently. By adopting DevSecOps, organizations can achieve faster delivery without compromising security, maintain regulatory compliance, and enhance overall resilience against cyber threats.
</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1659576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https://dell-my.sharepoint.com/personal/prakash_hikkanagutti_dell_com/Documents/Microsoft%20Copilot%20Chat%20Files/Lesson_01_Introduction_to_DevOps.pdf
DevOps revolutionizes software development by fostering collaboration, automation, and continuous improvement. It reduces time-to-market, enhances quality, and improves adaptability. Agile and DevOps complement each other, combining iterative development with streamlined delivery processes. The DevOps lifecycle integrates planning, coding, building, testing, deploying, operating, and monitoring into a cohesive workflow supported by automation and feedback loops. DevSecOps builds on this foundation by embedding security into every phase, ensuring that speed does not come at the expense of safety. Organizations adopting these practices can achieve faster, more reliable, and secure software delivery, ultimately driving innovation and customer satisfaction.
</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13233934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51026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6281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dirty="0"/>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7804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dirty="0"/>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1389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426034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675972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dirty="0"/>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dirty="0"/>
              <a:t>Click to edit Master subtitle style</a:t>
            </a:r>
          </a:p>
        </p:txBody>
      </p:sp>
    </p:spTree>
    <p:extLst>
      <p:ext uri="{BB962C8B-B14F-4D97-AF65-F5344CB8AC3E}">
        <p14:creationId xmlns:p14="http://schemas.microsoft.com/office/powerpoint/2010/main" val="1378175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2543322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dirty="0"/>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03842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071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dirty="0"/>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543712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8363512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35571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74582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508433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04408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6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09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194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284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911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5434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38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426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201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714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92562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27914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701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dirty="0"/>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3364347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dirty="0"/>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93761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851624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endParaRPr lang="en-US" dirty="0"/>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96850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984175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63961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dirty="0"/>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9751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25712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5556995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1696866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4751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dirty="0"/>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273828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69464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121877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36441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925949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4534423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0624372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4832712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8692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363863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7467848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7764677"/>
      </p:ext>
    </p:extLst>
  </p:cSld>
  <p:clrMap bg1="lt1" tx1="dk1" bg2="lt2" tx2="dk2" accent1="accent1" accent2="accent2" accent3="accent3" accent4="accent4" accent5="accent5" accent6="accent6" hlink="hlink" folHlink="folHlink"/>
  <p:sldLayoutIdLst>
    <p:sldLayoutId id="2147483886" r:id="rId1"/>
    <p:sldLayoutId id="2147483888" r:id="rId2"/>
    <p:sldLayoutId id="2147483889" r:id="rId3"/>
    <p:sldLayoutId id="2147483890" r:id="rId4"/>
    <p:sldLayoutId id="2147483937"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 id="2147483903" r:id="rId18"/>
    <p:sldLayoutId id="2147483904" r:id="rId19"/>
    <p:sldLayoutId id="2147483905" r:id="rId20"/>
    <p:sldLayoutId id="2147483906" r:id="rId21"/>
    <p:sldLayoutId id="2147483907" r:id="rId22"/>
    <p:sldLayoutId id="2147483908" r:id="rId23"/>
    <p:sldLayoutId id="2147483909" r:id="rId24"/>
    <p:sldLayoutId id="2147483910" r:id="rId25"/>
    <p:sldLayoutId id="2147483911" r:id="rId26"/>
    <p:sldLayoutId id="2147483912" r:id="rId27"/>
    <p:sldLayoutId id="2147483913" r:id="rId28"/>
    <p:sldLayoutId id="2147483914" r:id="rId29"/>
    <p:sldLayoutId id="2147483915" r:id="rId30"/>
    <p:sldLayoutId id="2147483916" r:id="rId31"/>
    <p:sldLayoutId id="2147483917" r:id="rId32"/>
    <p:sldLayoutId id="2147483918" r:id="rId33"/>
    <p:sldLayoutId id="2147483919" r:id="rId34"/>
    <p:sldLayoutId id="2147483920" r:id="rId35"/>
    <p:sldLayoutId id="2147483921" r:id="rId36"/>
    <p:sldLayoutId id="2147483922" r:id="rId37"/>
    <p:sldLayoutId id="2147483923" r:id="rId38"/>
    <p:sldLayoutId id="2147483924" r:id="rId39"/>
    <p:sldLayoutId id="2147483925" r:id="rId40"/>
    <p:sldLayoutId id="2147483926" r:id="rId41"/>
    <p:sldLayoutId id="2147483927" r:id="rId42"/>
    <p:sldLayoutId id="2147483928" r:id="rId43"/>
    <p:sldLayoutId id="2147483929" r:id="rId44"/>
    <p:sldLayoutId id="2147483930" r:id="rId45"/>
    <p:sldLayoutId id="2147483931" r:id="rId46"/>
    <p:sldLayoutId id="2147483932" r:id="rId47"/>
    <p:sldLayoutId id="2147483933" r:id="rId48"/>
    <p:sldLayoutId id="2147483934" r:id="rId49"/>
    <p:sldLayoutId id="2147483935" r:id="rId50"/>
    <p:sldLayoutId id="2147483936"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F91DB-2EEB-2E76-B572-552D8581938B}"/>
              </a:ext>
            </a:extLst>
          </p:cNvPr>
          <p:cNvSpPr>
            <a:spLocks noGrp="1"/>
          </p:cNvSpPr>
          <p:nvPr>
            <p:ph type="title"/>
          </p:nvPr>
        </p:nvSpPr>
        <p:spPr>
          <a:xfrm>
            <a:off x="974845" y="935204"/>
            <a:ext cx="10036005" cy="3592628"/>
          </a:xfrm>
        </p:spPr>
        <p:txBody>
          <a:bodyPr anchor="b">
            <a:normAutofit/>
          </a:bodyPr>
          <a:lstStyle/>
          <a:p>
            <a:r>
              <a:rPr lang="en-US"/>
              <a:t>Introduction to DevOps</a:t>
            </a:r>
          </a:p>
        </p:txBody>
      </p:sp>
      <p:sp>
        <p:nvSpPr>
          <p:cNvPr id="3" name="Subtitle 2">
            <a:extLst>
              <a:ext uri="{FF2B5EF4-FFF2-40B4-BE49-F238E27FC236}">
                <a16:creationId xmlns:a16="http://schemas.microsoft.com/office/drawing/2014/main" id="{216916D1-0E48-015B-2E97-C67A85F08FC7}"/>
              </a:ext>
            </a:extLst>
          </p:cNvPr>
          <p:cNvSpPr>
            <a:spLocks noGrp="1"/>
          </p:cNvSpPr>
          <p:nvPr>
            <p:ph type="subTitle" idx="1"/>
          </p:nvPr>
        </p:nvSpPr>
        <p:spPr>
          <a:xfrm>
            <a:off x="974845" y="4698103"/>
            <a:ext cx="10036005" cy="1014984"/>
          </a:xfrm>
        </p:spPr>
        <p:txBody>
          <a:bodyPr anchor="t">
            <a:normAutofit/>
          </a:bodyPr>
          <a:lstStyle/>
          <a:p>
            <a:pPr>
              <a:lnSpc>
                <a:spcPct val="110000"/>
              </a:lnSpc>
            </a:pPr>
            <a:r>
              <a:rPr lang="en-US"/>
              <a:t>Understanding collaboration between development and operations teams</a:t>
            </a:r>
          </a:p>
        </p:txBody>
      </p:sp>
    </p:spTree>
    <p:extLst>
      <p:ext uri="{BB962C8B-B14F-4D97-AF65-F5344CB8AC3E}">
        <p14:creationId xmlns:p14="http://schemas.microsoft.com/office/powerpoint/2010/main" val="22597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FAA11-3E1A-571D-83AF-45655E22D965}"/>
              </a:ext>
            </a:extLst>
          </p:cNvPr>
          <p:cNvSpPr>
            <a:spLocks noGrp="1"/>
          </p:cNvSpPr>
          <p:nvPr>
            <p:ph type="ctrTitle"/>
          </p:nvPr>
        </p:nvSpPr>
        <p:spPr>
          <a:xfrm>
            <a:off x="1522013" y="1282325"/>
            <a:ext cx="8893834" cy="3988550"/>
          </a:xfrm>
        </p:spPr>
        <p:txBody>
          <a:bodyPr anchor="ctr">
            <a:normAutofit/>
          </a:bodyPr>
          <a:lstStyle/>
          <a:p>
            <a:r>
              <a:rPr lang="en-US"/>
              <a:t>Introduction to DevOps</a:t>
            </a:r>
          </a:p>
        </p:txBody>
      </p:sp>
    </p:spTree>
    <p:extLst>
      <p:ext uri="{BB962C8B-B14F-4D97-AF65-F5344CB8AC3E}">
        <p14:creationId xmlns:p14="http://schemas.microsoft.com/office/powerpoint/2010/main" val="41653515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801E5-C76B-C653-7E5D-A7C42860C06E}"/>
              </a:ext>
            </a:extLst>
          </p:cNvPr>
          <p:cNvSpPr>
            <a:spLocks noGrp="1"/>
          </p:cNvSpPr>
          <p:nvPr>
            <p:ph type="title"/>
          </p:nvPr>
        </p:nvSpPr>
        <p:spPr>
          <a:xfrm>
            <a:off x="612647" y="552478"/>
            <a:ext cx="6858000" cy="932688"/>
          </a:xfrm>
        </p:spPr>
        <p:txBody>
          <a:bodyPr anchor="b">
            <a:normAutofit/>
          </a:bodyPr>
          <a:lstStyle/>
          <a:p>
            <a:r>
              <a:rPr lang="en-US"/>
              <a:t>What is DevOps?</a:t>
            </a:r>
          </a:p>
        </p:txBody>
      </p:sp>
      <p:sp>
        <p:nvSpPr>
          <p:cNvPr id="3" name="Content Placeholder 2">
            <a:extLst>
              <a:ext uri="{FF2B5EF4-FFF2-40B4-BE49-F238E27FC236}">
                <a16:creationId xmlns:a16="http://schemas.microsoft.com/office/drawing/2014/main" id="{8F73DB3F-AF15-B329-2136-99DC2324B38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DevOps Definition</a:t>
            </a:r>
          </a:p>
          <a:p>
            <a:pPr marL="0" lvl="1" indent="0">
              <a:buFont typeface="Arial" panose="020B0604020202020204" pitchFamily="34" charset="0"/>
              <a:buNone/>
            </a:pPr>
            <a:r>
              <a:rPr lang="en-US" sz="1400"/>
              <a:t>DevOps bridges software development and IT operations to improve collaboration and delivery speed.</a:t>
            </a:r>
          </a:p>
          <a:p>
            <a:pPr marL="0" indent="0">
              <a:spcBef>
                <a:spcPts val="2500"/>
              </a:spcBef>
              <a:buFont typeface="Arial" panose="020B0604020202020204" pitchFamily="34" charset="0"/>
              <a:buNone/>
            </a:pPr>
            <a:r>
              <a:rPr lang="en-US" sz="1400" b="1"/>
              <a:t>Core Practices</a:t>
            </a:r>
          </a:p>
          <a:p>
            <a:pPr marL="0" lvl="1" indent="0">
              <a:buFont typeface="Arial" panose="020B0604020202020204" pitchFamily="34" charset="0"/>
              <a:buNone/>
            </a:pPr>
            <a:r>
              <a:rPr lang="en-US" sz="1400"/>
              <a:t>Includes continuous integration, continuous delivery, infrastructure as code, and automated testing.</a:t>
            </a:r>
          </a:p>
          <a:p>
            <a:pPr marL="0" indent="0">
              <a:spcBef>
                <a:spcPts val="2500"/>
              </a:spcBef>
              <a:buFont typeface="Arial" panose="020B0604020202020204" pitchFamily="34" charset="0"/>
              <a:buNone/>
            </a:pPr>
            <a:r>
              <a:rPr lang="en-US" sz="1400" b="1"/>
              <a:t>Goals and Benefits</a:t>
            </a:r>
          </a:p>
          <a:p>
            <a:pPr marL="0" lvl="1" indent="0">
              <a:buFont typeface="Arial" panose="020B0604020202020204" pitchFamily="34" charset="0"/>
              <a:buNone/>
            </a:pPr>
            <a:r>
              <a:rPr lang="en-US" sz="1400"/>
              <a:t>Shortens development lifecycle while maintaining quality, security, and enhancing customer satisfaction.</a:t>
            </a:r>
          </a:p>
          <a:p>
            <a:pPr marL="0" indent="0">
              <a:spcBef>
                <a:spcPts val="2500"/>
              </a:spcBef>
              <a:buFont typeface="Arial" panose="020B0604020202020204" pitchFamily="34" charset="0"/>
              <a:buNone/>
            </a:pPr>
            <a:r>
              <a:rPr lang="en-US" sz="1400" b="1"/>
              <a:t>Cultural Mindset</a:t>
            </a:r>
          </a:p>
          <a:p>
            <a:pPr marL="0" lvl="1" indent="0">
              <a:buFont typeface="Arial" panose="020B0604020202020204" pitchFamily="34" charset="0"/>
              <a:buNone/>
            </a:pPr>
            <a:r>
              <a:rPr lang="en-US" sz="1400"/>
              <a:t>Promotes shared responsibility, collaboration, agility, and adaptability across all stakeholders.</a:t>
            </a:r>
          </a:p>
        </p:txBody>
      </p:sp>
      <p:pic>
        <p:nvPicPr>
          <p:cNvPr id="5" name="Content Placeholder 4" descr="People working">
            <a:extLst>
              <a:ext uri="{FF2B5EF4-FFF2-40B4-BE49-F238E27FC236}">
                <a16:creationId xmlns:a16="http://schemas.microsoft.com/office/drawing/2014/main" id="{96E132E7-100F-4326-9FCC-786DE7C11F22}"/>
              </a:ext>
            </a:extLst>
          </p:cNvPr>
          <p:cNvPicPr>
            <a:picLocks noGrp="1" noChangeAspect="1"/>
          </p:cNvPicPr>
          <p:nvPr>
            <p:ph type="pic" sz="quarter" idx="13"/>
          </p:nvPr>
        </p:nvPicPr>
        <p:blipFill>
          <a:blip r:embed="rId3"/>
          <a:srcRect l="23059" r="37032"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28227811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EC942-ABE4-BD9F-89C4-3D041909C84E}"/>
              </a:ext>
            </a:extLst>
          </p:cNvPr>
          <p:cNvSpPr>
            <a:spLocks noGrp="1"/>
          </p:cNvSpPr>
          <p:nvPr>
            <p:ph type="title"/>
          </p:nvPr>
        </p:nvSpPr>
        <p:spPr>
          <a:xfrm>
            <a:off x="612647" y="552478"/>
            <a:ext cx="6858000" cy="932688"/>
          </a:xfrm>
        </p:spPr>
        <p:txBody>
          <a:bodyPr anchor="b">
            <a:normAutofit/>
          </a:bodyPr>
          <a:lstStyle/>
          <a:p>
            <a:r>
              <a:rPr lang="en-US"/>
              <a:t>Benefits of DevOps</a:t>
            </a:r>
          </a:p>
        </p:txBody>
      </p:sp>
      <p:sp>
        <p:nvSpPr>
          <p:cNvPr id="3" name="Content Placeholder 2">
            <a:extLst>
              <a:ext uri="{FF2B5EF4-FFF2-40B4-BE49-F238E27FC236}">
                <a16:creationId xmlns:a16="http://schemas.microsoft.com/office/drawing/2014/main" id="{4F97D545-4153-7C5D-D72E-DB1AE79A1C6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Faster Release Speed</a:t>
            </a:r>
          </a:p>
          <a:p>
            <a:pPr marL="0" lvl="1" indent="0">
              <a:buFont typeface="Arial" panose="020B0604020202020204" pitchFamily="34" charset="0"/>
              <a:buNone/>
            </a:pPr>
            <a:r>
              <a:rPr lang="en-US" sz="1400"/>
              <a:t>DevOps enables faster software releases through automation and streamlined workflows, reducing time-to-market.</a:t>
            </a:r>
          </a:p>
          <a:p>
            <a:pPr marL="0" indent="0">
              <a:spcBef>
                <a:spcPts val="2500"/>
              </a:spcBef>
              <a:buFont typeface="Arial" panose="020B0604020202020204" pitchFamily="34" charset="0"/>
              <a:buNone/>
            </a:pPr>
            <a:r>
              <a:rPr lang="en-US" sz="1400" b="1"/>
              <a:t>Improved Efficiency</a:t>
            </a:r>
          </a:p>
          <a:p>
            <a:pPr marL="0" lvl="1" indent="0">
              <a:buFont typeface="Arial" panose="020B0604020202020204" pitchFamily="34" charset="0"/>
              <a:buNone/>
            </a:pPr>
            <a:r>
              <a:rPr lang="en-US" sz="1400"/>
              <a:t>Integration of processes and tools in DevOps reduces manual work and minimizes errors for better efficiency.</a:t>
            </a:r>
          </a:p>
          <a:p>
            <a:pPr marL="0" indent="0">
              <a:spcBef>
                <a:spcPts val="2500"/>
              </a:spcBef>
              <a:buFont typeface="Arial" panose="020B0604020202020204" pitchFamily="34" charset="0"/>
              <a:buNone/>
            </a:pPr>
            <a:r>
              <a:rPr lang="en-US" sz="1400" b="1"/>
              <a:t>Enhanced Reliability</a:t>
            </a:r>
          </a:p>
          <a:p>
            <a:pPr marL="0" lvl="1" indent="0">
              <a:buFont typeface="Arial" panose="020B0604020202020204" pitchFamily="34" charset="0"/>
              <a:buNone/>
            </a:pPr>
            <a:r>
              <a:rPr lang="en-US" sz="1400"/>
              <a:t>Consistent deployments and strong infrastructure management in DevOps reduce downtime and increase system stability.</a:t>
            </a:r>
          </a:p>
          <a:p>
            <a:pPr marL="0" indent="0">
              <a:spcBef>
                <a:spcPts val="2500"/>
              </a:spcBef>
              <a:buFont typeface="Arial" panose="020B0604020202020204" pitchFamily="34" charset="0"/>
              <a:buNone/>
            </a:pPr>
            <a:r>
              <a:rPr lang="en-US" sz="1400" b="1"/>
              <a:t>Agility and Adaptability</a:t>
            </a:r>
          </a:p>
          <a:p>
            <a:pPr marL="0" lvl="1" indent="0">
              <a:buFont typeface="Arial" panose="020B0604020202020204" pitchFamily="34" charset="0"/>
              <a:buNone/>
            </a:pPr>
            <a:r>
              <a:rPr lang="en-US" sz="1400"/>
              <a:t>DevOps fosters agility, enabling quick response to changes and continuous improvement based on feedback.</a:t>
            </a:r>
          </a:p>
        </p:txBody>
      </p:sp>
      <p:pic>
        <p:nvPicPr>
          <p:cNvPr id="5" name="Content Placeholder 4" descr="Thinking progress, searching for idea. Businessman in a black suite with gears (progress symbol) instead of head. From small to medium and big. Arrow pointing from one to another.">
            <a:extLst>
              <a:ext uri="{FF2B5EF4-FFF2-40B4-BE49-F238E27FC236}">
                <a16:creationId xmlns:a16="http://schemas.microsoft.com/office/drawing/2014/main" id="{B21BE9B6-11E1-4962-99A5-F0BCAF0924C0}"/>
              </a:ext>
            </a:extLst>
          </p:cNvPr>
          <p:cNvPicPr>
            <a:picLocks noGrp="1" noChangeAspect="1"/>
          </p:cNvPicPr>
          <p:nvPr>
            <p:ph type="pic" sz="quarter" idx="13"/>
          </p:nvPr>
        </p:nvPicPr>
        <p:blipFill>
          <a:blip r:embed="rId3"/>
          <a:srcRect l="33274" r="26816"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21043927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40C31-C7B3-0380-28B7-532FCAA57C14}"/>
              </a:ext>
            </a:extLst>
          </p:cNvPr>
          <p:cNvSpPr>
            <a:spLocks noGrp="1"/>
          </p:cNvSpPr>
          <p:nvPr>
            <p:ph type="ctrTitle"/>
          </p:nvPr>
        </p:nvSpPr>
        <p:spPr>
          <a:xfrm>
            <a:off x="1522013" y="1282325"/>
            <a:ext cx="8893834" cy="3988550"/>
          </a:xfrm>
        </p:spPr>
        <p:txBody>
          <a:bodyPr anchor="ctr">
            <a:normAutofit/>
          </a:bodyPr>
          <a:lstStyle/>
          <a:p>
            <a:r>
              <a:rPr lang="en-US"/>
              <a:t>DevOps vs Traditional Approach</a:t>
            </a:r>
          </a:p>
        </p:txBody>
      </p:sp>
    </p:spTree>
    <p:extLst>
      <p:ext uri="{BB962C8B-B14F-4D97-AF65-F5344CB8AC3E}">
        <p14:creationId xmlns:p14="http://schemas.microsoft.com/office/powerpoint/2010/main" val="19261555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CE4B-0254-8AFB-F807-61396EF62200}"/>
              </a:ext>
            </a:extLst>
          </p:cNvPr>
          <p:cNvSpPr>
            <a:spLocks noGrp="1"/>
          </p:cNvSpPr>
          <p:nvPr>
            <p:ph type="title"/>
          </p:nvPr>
        </p:nvSpPr>
        <p:spPr>
          <a:xfrm>
            <a:off x="612648" y="514649"/>
            <a:ext cx="10963655" cy="972373"/>
          </a:xfrm>
        </p:spPr>
        <p:txBody>
          <a:bodyPr anchor="b">
            <a:normAutofit/>
          </a:bodyPr>
          <a:lstStyle/>
          <a:p>
            <a:r>
              <a:rPr lang="en-US"/>
              <a:t>Comparison of Approaches</a:t>
            </a:r>
          </a:p>
        </p:txBody>
      </p:sp>
      <p:graphicFrame>
        <p:nvGraphicFramePr>
          <p:cNvPr id="5" name="Content Placeholder 4">
            <a:extLst>
              <a:ext uri="{FF2B5EF4-FFF2-40B4-BE49-F238E27FC236}">
                <a16:creationId xmlns:a16="http://schemas.microsoft.com/office/drawing/2014/main" id="{DA2AC1C1-91A9-4692-8BA6-4F7ADF7FB46A}"/>
              </a:ext>
            </a:extLst>
          </p:cNvPr>
          <p:cNvGraphicFramePr>
            <a:graphicFrameLocks noGrp="1"/>
          </p:cNvGraphicFramePr>
          <p:nvPr>
            <p:ph idx="1"/>
          </p:nvPr>
        </p:nvGraphicFramePr>
        <p:xfrm>
          <a:off x="869187" y="1629786"/>
          <a:ext cx="10450576" cy="4593831"/>
        </p:xfrm>
        <a:graphic>
          <a:graphicData uri="http://schemas.openxmlformats.org/drawingml/2006/table">
            <a:tbl>
              <a:tblPr firstRow="1" bandRow="1">
                <a:noFill/>
                <a:tableStyleId>{5C22544A-7EE6-4342-B048-85BDC9FD1C3A}</a:tableStyleId>
              </a:tblPr>
              <a:tblGrid>
                <a:gridCol w="2960115">
                  <a:extLst>
                    <a:ext uri="{9D8B030D-6E8A-4147-A177-3AD203B41FA5}">
                      <a16:colId xmlns:a16="http://schemas.microsoft.com/office/drawing/2014/main" val="721997486"/>
                    </a:ext>
                  </a:extLst>
                </a:gridCol>
                <a:gridCol w="3667080">
                  <a:extLst>
                    <a:ext uri="{9D8B030D-6E8A-4147-A177-3AD203B41FA5}">
                      <a16:colId xmlns:a16="http://schemas.microsoft.com/office/drawing/2014/main" val="590253316"/>
                    </a:ext>
                  </a:extLst>
                </a:gridCol>
                <a:gridCol w="3823381">
                  <a:extLst>
                    <a:ext uri="{9D8B030D-6E8A-4147-A177-3AD203B41FA5}">
                      <a16:colId xmlns:a16="http://schemas.microsoft.com/office/drawing/2014/main" val="285034285"/>
                    </a:ext>
                  </a:extLst>
                </a:gridCol>
              </a:tblGrid>
              <a:tr h="1209632">
                <a:tc>
                  <a:txBody>
                    <a:bodyPr/>
                    <a:lstStyle/>
                    <a:p>
                      <a:pPr>
                        <a:buNone/>
                      </a:pPr>
                      <a:r>
                        <a:rPr lang="en-US" sz="2400" b="1" cap="all" spc="150">
                          <a:solidFill>
                            <a:schemeClr val="tx1"/>
                          </a:solidFill>
                        </a:rPr>
                        <a:t>Aspect</a:t>
                      </a:r>
                    </a:p>
                  </a:txBody>
                  <a:tcPr marL="207761" marR="207761" marT="207761" marB="207761"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400" b="1" cap="all" spc="150">
                          <a:solidFill>
                            <a:schemeClr val="tx1"/>
                          </a:solidFill>
                        </a:rPr>
                        <a:t>Traditional Approach</a:t>
                      </a:r>
                    </a:p>
                  </a:txBody>
                  <a:tcPr marL="207761" marR="207761" marT="207761" marB="207761"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400" b="1" cap="all" spc="150">
                          <a:solidFill>
                            <a:schemeClr val="tx1"/>
                          </a:solidFill>
                        </a:rPr>
                        <a:t>DevOps</a:t>
                      </a:r>
                    </a:p>
                  </a:txBody>
                  <a:tcPr marL="207761" marR="207761" marT="207761" marB="207761"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3191740393"/>
                  </a:ext>
                </a:extLst>
              </a:tr>
              <a:tr h="771025">
                <a:tc>
                  <a:txBody>
                    <a:bodyPr/>
                    <a:lstStyle/>
                    <a:p>
                      <a:pPr>
                        <a:buNone/>
                      </a:pPr>
                      <a:r>
                        <a:rPr lang="en-US" sz="2000" b="1" cap="none" spc="0">
                          <a:solidFill>
                            <a:schemeClr val="tx1"/>
                          </a:solidFill>
                        </a:rPr>
                        <a:t>Focus</a:t>
                      </a:r>
                    </a:p>
                  </a:txBody>
                  <a:tcPr marL="207761" marR="207761" marT="207761" marB="20776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Infrastructure only</a:t>
                      </a:r>
                    </a:p>
                  </a:txBody>
                  <a:tcPr marL="207761" marR="207761" marT="207761" marB="20776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Infrastructure and application</a:t>
                      </a:r>
                    </a:p>
                  </a:txBody>
                  <a:tcPr marL="207761" marR="207761" marT="207761" marB="20776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2907665304"/>
                  </a:ext>
                </a:extLst>
              </a:tr>
              <a:tr h="771025">
                <a:tc>
                  <a:txBody>
                    <a:bodyPr/>
                    <a:lstStyle/>
                    <a:p>
                      <a:pPr>
                        <a:buNone/>
                      </a:pPr>
                      <a:r>
                        <a:rPr lang="en-US" sz="2000" b="1" cap="none" spc="0">
                          <a:solidFill>
                            <a:schemeClr val="tx1"/>
                          </a:solidFill>
                        </a:rPr>
                        <a:t>Speed</a:t>
                      </a:r>
                    </a:p>
                  </a:txBody>
                  <a:tcPr marL="207761" marR="207761" marT="207761" marB="2077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Slow recovery and releases</a:t>
                      </a:r>
                    </a:p>
                  </a:txBody>
                  <a:tcPr marL="207761" marR="207761" marT="207761" marB="2077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Fast recovery and releases</a:t>
                      </a:r>
                    </a:p>
                  </a:txBody>
                  <a:tcPr marL="207761" marR="207761" marT="207761" marB="2077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367993104"/>
                  </a:ext>
                </a:extLst>
              </a:tr>
              <a:tr h="1071124">
                <a:tc>
                  <a:txBody>
                    <a:bodyPr/>
                    <a:lstStyle/>
                    <a:p>
                      <a:pPr>
                        <a:buNone/>
                      </a:pPr>
                      <a:r>
                        <a:rPr lang="en-US" sz="2000" b="1" cap="none" spc="0">
                          <a:solidFill>
                            <a:schemeClr val="tx1"/>
                          </a:solidFill>
                        </a:rPr>
                        <a:t>Development Model</a:t>
                      </a:r>
                    </a:p>
                  </a:txBody>
                  <a:tcPr marL="207761" marR="207761" marT="207761" marB="2077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Linear</a:t>
                      </a:r>
                    </a:p>
                  </a:txBody>
                  <a:tcPr marL="207761" marR="207761" marT="207761" marB="2077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Continuous integration and deployment</a:t>
                      </a:r>
                    </a:p>
                  </a:txBody>
                  <a:tcPr marL="207761" marR="207761" marT="207761" marB="2077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994892414"/>
                  </a:ext>
                </a:extLst>
              </a:tr>
              <a:tr h="771025">
                <a:tc>
                  <a:txBody>
                    <a:bodyPr/>
                    <a:lstStyle/>
                    <a:p>
                      <a:pPr>
                        <a:buNone/>
                      </a:pPr>
                      <a:r>
                        <a:rPr lang="en-US" sz="2000" b="1" cap="none" spc="0">
                          <a:solidFill>
                            <a:schemeClr val="tx1"/>
                          </a:solidFill>
                        </a:rPr>
                        <a:t>Teamwork</a:t>
                      </a:r>
                    </a:p>
                  </a:txBody>
                  <a:tcPr marL="207761" marR="207761" marT="207761" marB="20776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2000" b="0" cap="none" spc="0">
                          <a:solidFill>
                            <a:schemeClr val="tx1"/>
                          </a:solidFill>
                        </a:rPr>
                        <a:t>Siloed functions</a:t>
                      </a:r>
                    </a:p>
                  </a:txBody>
                  <a:tcPr marL="207761" marR="207761" marT="207761" marB="20776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2000" b="0" cap="none" spc="0">
                          <a:solidFill>
                            <a:schemeClr val="tx1"/>
                          </a:solidFill>
                        </a:rPr>
                        <a:t>Collaborative approach</a:t>
                      </a:r>
                    </a:p>
                  </a:txBody>
                  <a:tcPr marL="207761" marR="207761" marT="207761" marB="20776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1268269608"/>
                  </a:ext>
                </a:extLst>
              </a:tr>
            </a:tbl>
          </a:graphicData>
        </a:graphic>
      </p:graphicFrame>
    </p:spTree>
    <p:extLst>
      <p:ext uri="{BB962C8B-B14F-4D97-AF65-F5344CB8AC3E}">
        <p14:creationId xmlns:p14="http://schemas.microsoft.com/office/powerpoint/2010/main" val="142456799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93CF0-0B77-52A5-1D72-95B2D1931C14}"/>
              </a:ext>
            </a:extLst>
          </p:cNvPr>
          <p:cNvSpPr>
            <a:spLocks noGrp="1"/>
          </p:cNvSpPr>
          <p:nvPr>
            <p:ph type="ctrTitle"/>
          </p:nvPr>
        </p:nvSpPr>
        <p:spPr>
          <a:xfrm>
            <a:off x="1522013" y="1282325"/>
            <a:ext cx="8893834" cy="3988550"/>
          </a:xfrm>
        </p:spPr>
        <p:txBody>
          <a:bodyPr anchor="ctr">
            <a:normAutofit/>
          </a:bodyPr>
          <a:lstStyle/>
          <a:p>
            <a:r>
              <a:rPr lang="en-US"/>
              <a:t>DevOps Lifecycle and Tools</a:t>
            </a:r>
          </a:p>
        </p:txBody>
      </p:sp>
    </p:spTree>
    <p:extLst>
      <p:ext uri="{BB962C8B-B14F-4D97-AF65-F5344CB8AC3E}">
        <p14:creationId xmlns:p14="http://schemas.microsoft.com/office/powerpoint/2010/main" val="38416592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F3DA5-EC13-0F83-E07A-D879552A372D}"/>
              </a:ext>
            </a:extLst>
          </p:cNvPr>
          <p:cNvSpPr>
            <a:spLocks noGrp="1"/>
          </p:cNvSpPr>
          <p:nvPr>
            <p:ph type="title"/>
          </p:nvPr>
        </p:nvSpPr>
        <p:spPr>
          <a:xfrm>
            <a:off x="612649" y="538716"/>
            <a:ext cx="4494189" cy="1288169"/>
          </a:xfrm>
        </p:spPr>
        <p:txBody>
          <a:bodyPr anchor="b">
            <a:normAutofit/>
          </a:bodyPr>
          <a:lstStyle/>
          <a:p>
            <a:r>
              <a:rPr lang="en-US"/>
              <a:t>DevOps Lifecycle</a:t>
            </a:r>
          </a:p>
        </p:txBody>
      </p:sp>
      <p:sp>
        <p:nvSpPr>
          <p:cNvPr id="3" name="Content Placeholder 2">
            <a:extLst>
              <a:ext uri="{FF2B5EF4-FFF2-40B4-BE49-F238E27FC236}">
                <a16:creationId xmlns:a16="http://schemas.microsoft.com/office/drawing/2014/main" id="{D33C4C5D-1436-3DF3-1266-D45B0BF73E1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1975104"/>
            <a:ext cx="4494063" cy="4156956"/>
          </a:xfrm>
        </p:spPr>
        <p:txBody>
          <a:bodyPr>
            <a:normAutofit/>
          </a:bodyPr>
          <a:lstStyle/>
          <a:p>
            <a:pPr marL="0" indent="0">
              <a:spcBef>
                <a:spcPts val="2500"/>
              </a:spcBef>
              <a:buFont typeface="Arial" panose="020B0604020202020204" pitchFamily="34" charset="0"/>
              <a:buNone/>
            </a:pPr>
            <a:r>
              <a:rPr lang="en-US" sz="1400" b="1"/>
              <a:t>Seven Key Phases</a:t>
            </a:r>
          </a:p>
          <a:p>
            <a:pPr marL="0" lvl="1" indent="0">
              <a:buFont typeface="Arial" panose="020B0604020202020204" pitchFamily="34" charset="0"/>
              <a:buNone/>
            </a:pPr>
            <a:r>
              <a:rPr lang="en-US" sz="1400"/>
              <a:t>DevOps lifecycle includes Plan, Code, Build, Test, Deploy, Operate, and Monitor phases working iteratively.</a:t>
            </a:r>
          </a:p>
          <a:p>
            <a:pPr marL="0" indent="0">
              <a:spcBef>
                <a:spcPts val="2500"/>
              </a:spcBef>
              <a:buFont typeface="Arial" panose="020B0604020202020204" pitchFamily="34" charset="0"/>
              <a:buNone/>
            </a:pPr>
            <a:r>
              <a:rPr lang="en-US" sz="1400" b="1"/>
              <a:t>Automation and Integration</a:t>
            </a:r>
          </a:p>
          <a:p>
            <a:pPr marL="0" lvl="1" indent="0">
              <a:buFont typeface="Arial" panose="020B0604020202020204" pitchFamily="34" charset="0"/>
              <a:buNone/>
            </a:pPr>
            <a:r>
              <a:rPr lang="en-US" sz="1400"/>
              <a:t>Automation ensures seamless integration and faster delivery without compromising software quality.</a:t>
            </a:r>
          </a:p>
          <a:p>
            <a:pPr marL="0" indent="0">
              <a:spcBef>
                <a:spcPts val="2500"/>
              </a:spcBef>
              <a:buFont typeface="Arial" panose="020B0604020202020204" pitchFamily="34" charset="0"/>
              <a:buNone/>
            </a:pPr>
            <a:r>
              <a:rPr lang="en-US" sz="1400" b="1"/>
              <a:t>Continuous Monitoring</a:t>
            </a:r>
          </a:p>
          <a:p>
            <a:pPr marL="0" lvl="1" indent="0">
              <a:buFont typeface="Arial" panose="020B0604020202020204" pitchFamily="34" charset="0"/>
              <a:buNone/>
            </a:pPr>
            <a:r>
              <a:rPr lang="en-US" sz="1400"/>
              <a:t>Real-time monitoring provides insights for proactive issue resolution and continuous improvement.</a:t>
            </a:r>
          </a:p>
        </p:txBody>
      </p:sp>
      <p:pic>
        <p:nvPicPr>
          <p:cNvPr id="5" name="Content Placeholder 4" descr="fourth industrial revolution technology concept">
            <a:extLst>
              <a:ext uri="{FF2B5EF4-FFF2-40B4-BE49-F238E27FC236}">
                <a16:creationId xmlns:a16="http://schemas.microsoft.com/office/drawing/2014/main" id="{1176C9E3-5D40-4E63-9F66-842CF5BAF20D}"/>
              </a:ext>
            </a:extLst>
          </p:cNvPr>
          <p:cNvPicPr>
            <a:picLocks noGrp="1" noChangeAspect="1"/>
          </p:cNvPicPr>
          <p:nvPr>
            <p:ph type="pic" sz="quarter" idx="13"/>
          </p:nvPr>
        </p:nvPicPr>
        <p:blipFill>
          <a:blip r:embed="rId3"/>
          <a:srcRect l="17974" r="28441"/>
          <a:stretch>
            <a:fillRect/>
          </a:stretch>
        </p:blipFill>
        <p:spPr>
          <a:xfrm>
            <a:off x="5658928" y="10"/>
            <a:ext cx="6533072" cy="6857990"/>
          </a:xfrm>
          <a:prstGeom prst="rect">
            <a:avLst/>
          </a:prstGeom>
          <a:noFill/>
          <a:ln w="25400">
            <a:solidFill>
              <a:srgbClr val="000000"/>
            </a:solidFill>
          </a:ln>
        </p:spPr>
      </p:pic>
    </p:spTree>
    <p:extLst>
      <p:ext uri="{BB962C8B-B14F-4D97-AF65-F5344CB8AC3E}">
        <p14:creationId xmlns:p14="http://schemas.microsoft.com/office/powerpoint/2010/main" val="33479221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D4AAB-0DD9-63D7-B71D-C2588C0517D8}"/>
              </a:ext>
            </a:extLst>
          </p:cNvPr>
          <p:cNvSpPr>
            <a:spLocks noGrp="1"/>
          </p:cNvSpPr>
          <p:nvPr>
            <p:ph type="title"/>
          </p:nvPr>
        </p:nvSpPr>
        <p:spPr>
          <a:xfrm>
            <a:off x="612647" y="552478"/>
            <a:ext cx="6858000" cy="932688"/>
          </a:xfrm>
        </p:spPr>
        <p:txBody>
          <a:bodyPr anchor="b">
            <a:normAutofit/>
          </a:bodyPr>
          <a:lstStyle/>
          <a:p>
            <a:r>
              <a:rPr lang="en-US"/>
              <a:t>Essential DevOps Tools</a:t>
            </a:r>
          </a:p>
        </p:txBody>
      </p:sp>
      <p:sp>
        <p:nvSpPr>
          <p:cNvPr id="3" name="Content Placeholder 2">
            <a:extLst>
              <a:ext uri="{FF2B5EF4-FFF2-40B4-BE49-F238E27FC236}">
                <a16:creationId xmlns:a16="http://schemas.microsoft.com/office/drawing/2014/main" id="{B8807098-4C0A-4A0F-D7D4-70375C1DDD0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Source Code Management</a:t>
            </a:r>
          </a:p>
          <a:p>
            <a:pPr marL="0" lvl="1" indent="0">
              <a:buFont typeface="Arial" panose="020B0604020202020204" pitchFamily="34" charset="0"/>
              <a:buNone/>
            </a:pPr>
            <a:r>
              <a:rPr lang="en-US" sz="1400"/>
              <a:t>Tools like Git enable version control and collaborative coding for efficient software development.</a:t>
            </a:r>
          </a:p>
          <a:p>
            <a:pPr marL="0" indent="0">
              <a:spcBef>
                <a:spcPts val="2500"/>
              </a:spcBef>
              <a:buFont typeface="Arial" panose="020B0604020202020204" pitchFamily="34" charset="0"/>
              <a:buNone/>
            </a:pPr>
            <a:r>
              <a:rPr lang="en-US" sz="1400" b="1"/>
              <a:t>Build Automation and CI/CD</a:t>
            </a:r>
          </a:p>
          <a:p>
            <a:pPr marL="0" lvl="1" indent="0">
              <a:buFont typeface="Arial" panose="020B0604020202020204" pitchFamily="34" charset="0"/>
              <a:buNone/>
            </a:pPr>
            <a:r>
              <a:rPr lang="en-US" sz="1400"/>
              <a:t>Build tools and Jenkins automate compiling, testing, and deployment for continuous integration and delivery.</a:t>
            </a:r>
          </a:p>
          <a:p>
            <a:pPr marL="0" indent="0">
              <a:spcBef>
                <a:spcPts val="2500"/>
              </a:spcBef>
              <a:buFont typeface="Arial" panose="020B0604020202020204" pitchFamily="34" charset="0"/>
              <a:buNone/>
            </a:pPr>
            <a:r>
              <a:rPr lang="en-US" sz="1400" b="1"/>
              <a:t>Testing and Quality Assurance</a:t>
            </a:r>
          </a:p>
          <a:p>
            <a:pPr marL="0" lvl="1" indent="0">
              <a:buFont typeface="Arial" panose="020B0604020202020204" pitchFamily="34" charset="0"/>
              <a:buNone/>
            </a:pPr>
            <a:r>
              <a:rPr lang="en-US" sz="1400"/>
              <a:t>Testing tools like Selenium ensure software quality through automated validation and error detection.</a:t>
            </a:r>
          </a:p>
          <a:p>
            <a:pPr marL="0" indent="0">
              <a:spcBef>
                <a:spcPts val="2500"/>
              </a:spcBef>
              <a:buFont typeface="Arial" panose="020B0604020202020204" pitchFamily="34" charset="0"/>
              <a:buNone/>
            </a:pPr>
            <a:r>
              <a:rPr lang="en-US" sz="1400" b="1"/>
              <a:t>Infrastructure and Monitoring</a:t>
            </a:r>
          </a:p>
          <a:p>
            <a:pPr marL="0" lvl="1" indent="0">
              <a:buFont typeface="Arial" panose="020B0604020202020204" pitchFamily="34" charset="0"/>
              <a:buNone/>
            </a:pPr>
            <a:r>
              <a:rPr lang="en-US" sz="1400"/>
              <a:t>Configuration management and monitoring tools automate infrastructure and provide system health visibility.</a:t>
            </a:r>
          </a:p>
        </p:txBody>
      </p:sp>
      <p:pic>
        <p:nvPicPr>
          <p:cNvPr id="5" name="Content Placeholder 4" descr="Laptop, smart phone and computer service">
            <a:extLst>
              <a:ext uri="{FF2B5EF4-FFF2-40B4-BE49-F238E27FC236}">
                <a16:creationId xmlns:a16="http://schemas.microsoft.com/office/drawing/2014/main" id="{F8E69CF0-1C1E-4F96-A8F7-3187447359C2}"/>
              </a:ext>
            </a:extLst>
          </p:cNvPr>
          <p:cNvPicPr>
            <a:picLocks noGrp="1" noChangeAspect="1"/>
          </p:cNvPicPr>
          <p:nvPr>
            <p:ph type="pic" sz="quarter" idx="13"/>
          </p:nvPr>
        </p:nvPicPr>
        <p:blipFill>
          <a:blip r:embed="rId3"/>
          <a:srcRect l="18430" r="16406"/>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36559651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6AD30-FC53-91A7-B990-C029FF75DABA}"/>
              </a:ext>
            </a:extLst>
          </p:cNvPr>
          <p:cNvSpPr>
            <a:spLocks noGrp="1"/>
          </p:cNvSpPr>
          <p:nvPr>
            <p:ph type="ctrTitle"/>
          </p:nvPr>
        </p:nvSpPr>
        <p:spPr>
          <a:xfrm>
            <a:off x="1522013" y="1282325"/>
            <a:ext cx="8893834" cy="3988550"/>
          </a:xfrm>
        </p:spPr>
        <p:txBody>
          <a:bodyPr anchor="ctr">
            <a:normAutofit/>
          </a:bodyPr>
          <a:lstStyle/>
          <a:p>
            <a:r>
              <a:rPr lang="en-US"/>
              <a:t>DevSecOps and Key Takeaways</a:t>
            </a:r>
          </a:p>
        </p:txBody>
      </p:sp>
    </p:spTree>
    <p:extLst>
      <p:ext uri="{BB962C8B-B14F-4D97-AF65-F5344CB8AC3E}">
        <p14:creationId xmlns:p14="http://schemas.microsoft.com/office/powerpoint/2010/main" val="9288172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40F61-CC56-706A-D22F-7F70F2BB637A}"/>
              </a:ext>
            </a:extLst>
          </p:cNvPr>
          <p:cNvSpPr>
            <a:spLocks noGrp="1"/>
          </p:cNvSpPr>
          <p:nvPr>
            <p:ph type="title"/>
          </p:nvPr>
        </p:nvSpPr>
        <p:spPr>
          <a:xfrm>
            <a:off x="612647" y="552478"/>
            <a:ext cx="6858000" cy="932688"/>
          </a:xfrm>
        </p:spPr>
        <p:txBody>
          <a:bodyPr anchor="b">
            <a:normAutofit/>
          </a:bodyPr>
          <a:lstStyle/>
          <a:p>
            <a:r>
              <a:rPr lang="en-US"/>
              <a:t>Introduction to DevSecOps</a:t>
            </a:r>
          </a:p>
        </p:txBody>
      </p:sp>
      <p:sp>
        <p:nvSpPr>
          <p:cNvPr id="3" name="Content Placeholder 2">
            <a:extLst>
              <a:ext uri="{FF2B5EF4-FFF2-40B4-BE49-F238E27FC236}">
                <a16:creationId xmlns:a16="http://schemas.microsoft.com/office/drawing/2014/main" id="{806A3399-386D-6AEB-CCD6-DAC8A14B8C7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Integrated Security in Development</a:t>
            </a:r>
          </a:p>
          <a:p>
            <a:pPr marL="0" lvl="1" indent="0">
              <a:buFont typeface="Arial" panose="020B0604020202020204" pitchFamily="34" charset="0"/>
              <a:buNone/>
            </a:pPr>
            <a:r>
              <a:rPr lang="en-US" sz="1400"/>
              <a:t>DevSecOps embeds security in every stage of software development to identify vulnerabilities early and reduce risks.</a:t>
            </a:r>
          </a:p>
          <a:p>
            <a:pPr marL="0" indent="0">
              <a:spcBef>
                <a:spcPts val="2500"/>
              </a:spcBef>
              <a:buFont typeface="Arial" panose="020B0604020202020204" pitchFamily="34" charset="0"/>
              <a:buNone/>
            </a:pPr>
            <a:r>
              <a:rPr lang="en-US" sz="1400" b="1"/>
              <a:t>Automated Security Practices</a:t>
            </a:r>
          </a:p>
          <a:p>
            <a:pPr marL="0" lvl="1" indent="0">
              <a:buFont typeface="Arial" panose="020B0604020202020204" pitchFamily="34" charset="0"/>
              <a:buNone/>
            </a:pPr>
            <a:r>
              <a:rPr lang="en-US" sz="1400"/>
              <a:t>Automation tools like security testing and vulnerability scanning enhance continuous security enforcement in CI/CD pipelines.</a:t>
            </a:r>
          </a:p>
          <a:p>
            <a:pPr marL="0" indent="0">
              <a:spcBef>
                <a:spcPts val="2500"/>
              </a:spcBef>
              <a:buFont typeface="Arial" panose="020B0604020202020204" pitchFamily="34" charset="0"/>
              <a:buNone/>
            </a:pPr>
            <a:r>
              <a:rPr lang="en-US" sz="1400" b="1"/>
              <a:t>Collaborative Culture</a:t>
            </a:r>
          </a:p>
          <a:p>
            <a:pPr marL="0" lvl="1" indent="0">
              <a:buFont typeface="Arial" panose="020B0604020202020204" pitchFamily="34" charset="0"/>
              <a:buNone/>
            </a:pPr>
            <a:r>
              <a:rPr lang="en-US" sz="1400"/>
              <a:t>DevSecOps fosters shared responsibility among development, operations, and security teams for delivering secure software efficiently.</a:t>
            </a:r>
          </a:p>
          <a:p>
            <a:pPr marL="0" indent="0">
              <a:spcBef>
                <a:spcPts val="2500"/>
              </a:spcBef>
              <a:buFont typeface="Arial" panose="020B0604020202020204" pitchFamily="34" charset="0"/>
              <a:buNone/>
            </a:pPr>
            <a:r>
              <a:rPr lang="en-US" sz="1400" b="1"/>
              <a:t>Benefits of DevSecOps</a:t>
            </a:r>
          </a:p>
          <a:p>
            <a:pPr marL="0" lvl="1" indent="0">
              <a:buFont typeface="Arial" panose="020B0604020202020204" pitchFamily="34" charset="0"/>
              <a:buNone/>
            </a:pPr>
            <a:r>
              <a:rPr lang="en-US" sz="1400"/>
              <a:t>Adopting DevSecOps accelerates delivery while maintaining compliance, security, and resilience against cyber threats.</a:t>
            </a:r>
          </a:p>
        </p:txBody>
      </p:sp>
      <p:pic>
        <p:nvPicPr>
          <p:cNvPr id="5" name="Content Placeholder 4" descr="technology and innovation concept">
            <a:extLst>
              <a:ext uri="{FF2B5EF4-FFF2-40B4-BE49-F238E27FC236}">
                <a16:creationId xmlns:a16="http://schemas.microsoft.com/office/drawing/2014/main" id="{4009EA76-893E-4069-BAAA-D6FFEA057606}"/>
              </a:ext>
            </a:extLst>
          </p:cNvPr>
          <p:cNvPicPr>
            <a:picLocks noGrp="1" noChangeAspect="1"/>
          </p:cNvPicPr>
          <p:nvPr>
            <p:ph type="pic" sz="quarter" idx="13"/>
          </p:nvPr>
        </p:nvPicPr>
        <p:blipFill>
          <a:blip r:embed="rId3"/>
          <a:srcRect l="35296" r="30476"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9543213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C9893-445D-14FF-5596-D2BAC5F39D97}"/>
              </a:ext>
            </a:extLst>
          </p:cNvPr>
          <p:cNvSpPr>
            <a:spLocks noGrp="1"/>
          </p:cNvSpPr>
          <p:nvPr>
            <p:ph type="title"/>
          </p:nvPr>
        </p:nvSpPr>
        <p:spPr>
          <a:xfrm>
            <a:off x="612648" y="706802"/>
            <a:ext cx="4672584" cy="1269482"/>
          </a:xfrm>
        </p:spPr>
        <p:txBody>
          <a:bodyPr anchor="t">
            <a:normAutofit/>
          </a:bodyPr>
          <a:lstStyle/>
          <a:p>
            <a:r>
              <a:rPr lang="en-US"/>
              <a:t>Key Takeaways</a:t>
            </a:r>
          </a:p>
        </p:txBody>
      </p:sp>
      <p:pic>
        <p:nvPicPr>
          <p:cNvPr id="5" name="Content Placeholder 4"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CBDFD5F3-787B-4783-BC2F-EB96805C6B6C}"/>
              </a:ext>
            </a:extLst>
          </p:cNvPr>
          <p:cNvPicPr>
            <a:picLocks noGrp="1" noChangeAspect="1"/>
          </p:cNvPicPr>
          <p:nvPr>
            <p:ph type="pic" sz="quarter" idx="15"/>
          </p:nvPr>
        </p:nvPicPr>
        <p:blipFill>
          <a:blip r:embed="rId3"/>
          <a:stretch/>
        </p:blipFill>
        <p:spPr>
          <a:xfrm>
            <a:off x="609599" y="2387388"/>
            <a:ext cx="4488792" cy="3366594"/>
          </a:xfrm>
          <a:prstGeom prst="rect">
            <a:avLst/>
          </a:prstGeom>
          <a:noFill/>
          <a:ln w="25400">
            <a:solidFill>
              <a:srgbClr val="000000"/>
            </a:solidFill>
          </a:ln>
        </p:spPr>
      </p:pic>
      <p:sp>
        <p:nvSpPr>
          <p:cNvPr id="3" name="Content Placeholder 2">
            <a:extLst>
              <a:ext uri="{FF2B5EF4-FFF2-40B4-BE49-F238E27FC236}">
                <a16:creationId xmlns:a16="http://schemas.microsoft.com/office/drawing/2014/main" id="{5B3DD6D1-07A0-5162-816B-7D1343AE93E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sz="1400" b="1"/>
              <a:t>DevOps Benefits</a:t>
            </a:r>
          </a:p>
          <a:p>
            <a:pPr marL="0" lvl="1" indent="0">
              <a:buFont typeface="Arial" panose="020B0604020202020204" pitchFamily="34" charset="0"/>
              <a:buNone/>
            </a:pPr>
            <a:r>
              <a:rPr lang="en-US" sz="1400"/>
              <a:t>DevOps fosters collaboration and automation, reducing time-to-market and enhancing software quality and adaptability.</a:t>
            </a:r>
          </a:p>
          <a:p>
            <a:pPr marL="0" indent="0">
              <a:spcBef>
                <a:spcPts val="2500"/>
              </a:spcBef>
              <a:buFont typeface="Arial" panose="020B0604020202020204" pitchFamily="34" charset="0"/>
              <a:buNone/>
            </a:pPr>
            <a:r>
              <a:rPr lang="en-US" sz="1400" b="1"/>
              <a:t>Agile and DevOps Integration</a:t>
            </a:r>
          </a:p>
          <a:p>
            <a:pPr marL="0" lvl="1" indent="0">
              <a:buFont typeface="Arial" panose="020B0604020202020204" pitchFamily="34" charset="0"/>
              <a:buNone/>
            </a:pPr>
            <a:r>
              <a:rPr lang="en-US" sz="1400"/>
              <a:t>Agile and DevOps complement each other by combining iterative development with streamlined delivery processes.</a:t>
            </a:r>
          </a:p>
          <a:p>
            <a:pPr marL="0" indent="0">
              <a:spcBef>
                <a:spcPts val="2500"/>
              </a:spcBef>
              <a:buFont typeface="Arial" panose="020B0604020202020204" pitchFamily="34" charset="0"/>
              <a:buNone/>
            </a:pPr>
            <a:r>
              <a:rPr lang="en-US" sz="1400" b="1"/>
              <a:t>DevOps Lifecycle</a:t>
            </a:r>
          </a:p>
          <a:p>
            <a:pPr marL="0" lvl="1" indent="0">
              <a:buFont typeface="Arial" panose="020B0604020202020204" pitchFamily="34" charset="0"/>
              <a:buNone/>
            </a:pPr>
            <a:r>
              <a:rPr lang="en-US" sz="1400"/>
              <a:t>The DevOps lifecycle integrates planning, coding, building, testing, deploying, operating, and monitoring with automation and feedback loops.</a:t>
            </a:r>
          </a:p>
          <a:p>
            <a:pPr marL="0" indent="0">
              <a:spcBef>
                <a:spcPts val="2500"/>
              </a:spcBef>
              <a:buFont typeface="Arial" panose="020B0604020202020204" pitchFamily="34" charset="0"/>
              <a:buNone/>
            </a:pPr>
            <a:r>
              <a:rPr lang="en-US" sz="1400" b="1"/>
              <a:t>DevSecOps Importance</a:t>
            </a:r>
          </a:p>
          <a:p>
            <a:pPr marL="0" lvl="1" indent="0">
              <a:buFont typeface="Arial" panose="020B0604020202020204" pitchFamily="34" charset="0"/>
              <a:buNone/>
            </a:pPr>
            <a:r>
              <a:rPr lang="en-US" sz="1400"/>
              <a:t>DevSecOps embeds security into every phase, ensuring fast and safe software delivery.</a:t>
            </a:r>
          </a:p>
        </p:txBody>
      </p:sp>
    </p:spTree>
    <p:extLst>
      <p:ext uri="{BB962C8B-B14F-4D97-AF65-F5344CB8AC3E}">
        <p14:creationId xmlns:p14="http://schemas.microsoft.com/office/powerpoint/2010/main" val="32374337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F3D192A-84D9-4592-8CD0-04B2096CE0AE}">
  <ds:schemaRefs>
    <ds:schemaRef ds:uri="http://schemas.microsoft.com/sharepoint/v3/contenttype/forms"/>
  </ds:schemaRefs>
</ds:datastoreItem>
</file>

<file path=customXml/itemProps2.xml><?xml version="1.0" encoding="utf-8"?>
<ds:datastoreItem xmlns:ds="http://schemas.openxmlformats.org/officeDocument/2006/customXml" ds:itemID="{ACDF21CE-F94D-4E7A-9B41-689023E47C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C1B1D1-0368-4ED3-8004-0F946C56E5DB}">
  <ds:schemaRefs>
    <ds:schemaRef ds:uri="http://schemas.microsoft.com/sharepoint/v3"/>
    <ds:schemaRef ds:uri="http://schemas.microsoft.com/office/2006/documentManagement/types"/>
    <ds:schemaRef ds:uri="http://purl.org/dc/terms/"/>
    <ds:schemaRef ds:uri="71af3243-3dd4-4a8d-8c0d-dd76da1f02a5"/>
    <ds:schemaRef ds:uri="http://purl.org/dc/elements/1.1/"/>
    <ds:schemaRef ds:uri="http://purl.org/dc/dcmitype/"/>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 ds:uri="16c05727-aa75-4e4a-9b5f-8a80a116589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71</TotalTime>
  <Words>4</Words>
  <Application>Microsoft Office PowerPoint</Application>
  <PresentationFormat>Widescreen</PresentationFormat>
  <Paragraphs>2</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Chalcot</vt:lpstr>
      <vt:lpstr>Introduction to DevOps</vt:lpstr>
      <vt:lpstr>Introduction to DevOps</vt:lpstr>
      <vt:lpstr>What is DevOps?</vt:lpstr>
      <vt:lpstr>Benefits of DevOps</vt:lpstr>
      <vt:lpstr>DevOps vs Traditional Approach</vt:lpstr>
      <vt:lpstr>Comparison of Approaches</vt:lpstr>
      <vt:lpstr>DevOps Lifecycle and Tools</vt:lpstr>
      <vt:lpstr>DevOps Lifecycle</vt:lpstr>
      <vt:lpstr>Essential DevOps Tools</vt:lpstr>
      <vt:lpstr>DevSecOps and Key Takeaways</vt:lpstr>
      <vt:lpstr>Introduction to DevSecOps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created xsi:type="dcterms:W3CDTF">2024-06-26T20:20:27Z</dcterms:created>
  <dcterms:modified xsi:type="dcterms:W3CDTF">2025-12-08T17:13:57Z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dad3be33-4108-4738-9e07-d8656a181486_Enabled">
    <vt:lpwstr>true</vt:lpwstr>
  </property>
  <property fmtid="{D5CDD505-2E9C-101B-9397-08002B2CF9AE}" pid="5" name="MSIP_Label_dad3be33-4108-4738-9e07-d8656a181486_SetDate">
    <vt:lpwstr>2025-12-08T17:13:44Z</vt:lpwstr>
  </property>
  <property fmtid="{D5CDD505-2E9C-101B-9397-08002B2CF9AE}" pid="6" name="MSIP_Label_dad3be33-4108-4738-9e07-d8656a181486_Method">
    <vt:lpwstr>Privileged</vt:lpwstr>
  </property>
  <property fmtid="{D5CDD505-2E9C-101B-9397-08002B2CF9AE}" pid="7" name="MSIP_Label_dad3be33-4108-4738-9e07-d8656a181486_Name">
    <vt:lpwstr>Public No Visual Label</vt:lpwstr>
  </property>
  <property fmtid="{D5CDD505-2E9C-101B-9397-08002B2CF9AE}" pid="8" name="MSIP_Label_dad3be33-4108-4738-9e07-d8656a181486_SiteId">
    <vt:lpwstr>945c199a-83a2-4e80-9f8c-5a91be5752dd</vt:lpwstr>
  </property>
  <property fmtid="{D5CDD505-2E9C-101B-9397-08002B2CF9AE}" pid="9" name="MSIP_Label_dad3be33-4108-4738-9e07-d8656a181486_ActionId">
    <vt:lpwstr>65e1eb9e-2602-4f0d-82ea-617d44e80419</vt:lpwstr>
  </property>
  <property fmtid="{D5CDD505-2E9C-101B-9397-08002B2CF9AE}" pid="10" name="MSIP_Label_dad3be33-4108-4738-9e07-d8656a181486_ContentBits">
    <vt:lpwstr>0</vt:lpwstr>
  </property>
  <property fmtid="{D5CDD505-2E9C-101B-9397-08002B2CF9AE}" pid="11" name="MSIP_Label_dad3be33-4108-4738-9e07-d8656a181486_Tag">
    <vt:lpwstr>10, 0, 1, 2</vt:lpwstr>
  </property>
</Properties>
</file>